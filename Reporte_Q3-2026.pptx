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Madurez</c:v>
                </c:pt>
              </c:strCache>
            </c:strRef>
          </c:tx>
          <c:spPr>
            <a:solidFill>
              <a:srgbClr val="D4A017"/>
            </a:solidFill>
            <a:ln w="6350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9A7A14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4A017"/>
              </a:solidFill>
              <a:ln w="2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Q2-2025</c:v>
                  </c:pt>
                  <c:pt idx="1">
                    <c:v>Q3-2025</c:v>
                  </c:pt>
                  <c:pt idx="2">
                    <c:v>Q4-2025</c:v>
                  </c:pt>
                  <c:pt idx="3">
                    <c:v>Q1-2026</c:v>
                  </c:pt>
                  <c:pt idx="4">
                    <c:v>Q2-2026</c:v>
                  </c:pt>
                  <c:pt idx="5">
                    <c:v>Q3-2026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</c:v>
                </c:pt>
                <c:pt idx="1">
                  <c:v>77</c:v>
                </c:pt>
                <c:pt idx="2">
                  <c:v>83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9A7A14"/>
                  </a:solidFill>
                  <a:latin typeface="Arial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Cultura</c:v>
                </c:pt>
              </c:strCache>
            </c:strRef>
          </c:tx>
          <c:spPr>
            <a:solidFill>
              <a:srgbClr val="4A4844"/>
            </a:solidFill>
            <a:ln w="19050" cap="flat">
              <a:solidFill>
                <a:srgbClr val="4A4844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pPr>
              <a:solidFill>
                <a:srgbClr val="ADAAA2"/>
              </a:solidFill>
              <a:ln w="9525" cap="flat">
                <a:solidFill>
                  <a:srgbClr val="4A48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Q2-2025</c:v>
                  </c:pt>
                  <c:pt idx="1">
                    <c:v>Q3-2025</c:v>
                  </c:pt>
                  <c:pt idx="2">
                    <c:v>Q4-2025</c:v>
                  </c:pt>
                  <c:pt idx="3">
                    <c:v>Q1-2026</c:v>
                  </c:pt>
                  <c:pt idx="4">
                    <c:v>Q2-2026</c:v>
                  </c:pt>
                  <c:pt idx="5">
                    <c:v>Q3-2026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</c:v>
                </c:pt>
                <c:pt idx="1">
                  <c:v>77</c:v>
                </c:pt>
                <c:pt idx="2">
                  <c:v>82</c:v>
                </c:pt>
                <c:pt idx="3">
                  <c:v>86</c:v>
                </c:pt>
                <c:pt idx="4">
                  <c:v>82</c:v>
                </c:pt>
                <c:pt idx="5">
                  <c:v>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Rendimiento</c:v>
                </c:pt>
              </c:strCache>
            </c:strRef>
          </c:tx>
          <c:spPr>
            <a:solidFill>
              <a:srgbClr val="ADAAA2"/>
            </a:solidFill>
            <a:ln w="19050" cap="flat">
              <a:solidFill>
                <a:srgbClr val="ADAAA2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pPr>
              <a:solidFill>
                <a:srgbClr val="ADAAA2"/>
              </a:solidFill>
              <a:ln w="9525" cap="flat">
                <a:solidFill>
                  <a:srgbClr val="ADAAA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Q2-2025</c:v>
                  </c:pt>
                  <c:pt idx="1">
                    <c:v>Q3-2025</c:v>
                  </c:pt>
                  <c:pt idx="2">
                    <c:v>Q4-2025</c:v>
                  </c:pt>
                  <c:pt idx="3">
                    <c:v>Q1-2026</c:v>
                  </c:pt>
                  <c:pt idx="4">
                    <c:v>Q2-2026</c:v>
                  </c:pt>
                  <c:pt idx="5">
                    <c:v>Q3-2026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71</c:v>
                </c:pt>
                <c:pt idx="1">
                  <c:v>78</c:v>
                </c:pt>
                <c:pt idx="2">
                  <c:v>84</c:v>
                </c:pt>
                <c:pt idx="3">
                  <c:v>73</c:v>
                </c:pt>
                <c:pt idx="4">
                  <c:v>78</c:v>
                </c:pt>
                <c:pt idx="5">
                  <c:v>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9525" cap="flat">
              <a:solidFill>
                <a:srgbClr val="F0EF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38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0" y="406400"/>
            <a:ext cx="1568196" cy="330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4500" y="1168400"/>
            <a:ext cx="11303000" cy="1905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44500" y="1714500"/>
            <a:ext cx="1270000" cy="2921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44500" y="1714500"/>
            <a:ext cx="1270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44500" y="2730500"/>
            <a:ext cx="889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Ágil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44500" y="4953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Consolidado: Apificación (Betagame), Ganbatte (Canal), Hydra (Betagame), Ragnarok (CAF), Stark (Negocio) y Voyager (Promociones)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44500" y="8128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Consolidado: Apificación (Betagame), Ganbatte (Canal), Hydra (Betagame), Ragnarok (CAF), Stark (Negocio) y Voyager (Promociones)  ·  Q3-2026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2065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6573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4500" y="16573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7600" y="16192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 Agilidad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7600" y="18859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qué evalúa y cómo se mide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4500" y="24320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500" y="24320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17600" y="23939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Assessment — Equipo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7600" y="26606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Radar, competencias, madurez y evolución histórica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4500" y="32067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4500" y="32067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17600" y="31686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Valor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7600" y="34353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presentados en Portafolio vs. pendientes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4500" y="39814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4500" y="39814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17600" y="39433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17600" y="42100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retroalimentación directa al equipo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44500" y="47561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4500" y="47561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7600" y="47180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Estratégica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17600" y="49847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Causas, ranking de oportunidades y plan de mejora Q3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4500" y="55308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4500" y="5530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7600" y="54927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Awards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17600" y="57594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Categorías, dinámica y equipos ganadores del trimestre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44500" y="8128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Consolidado: Apificación (Betagame), Ganbatte (Canal), Hydra (Betagame), Ragnarok (CAF), Stark (Negocio) y Voyager (Promociones)  ·  Q3-2026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2065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657350"/>
            <a:ext cx="444500" cy="444500"/>
          </a:xfrm>
          <a:prstGeom prst="ellipse">
            <a:avLst/>
          </a:prstGeom>
          <a:solidFill>
            <a:srgbClr val="D4A017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4500" y="16573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7600" y="16192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 Agilidad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7600" y="18859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qué evalúa y cómo se mide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4500" y="24320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500" y="24320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17600" y="23939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Assessment — Equipo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7600" y="26606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Radar, competencias, madurez y evolución histórica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4500" y="32067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4500" y="32067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17600" y="31686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Valor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7600" y="34353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presentados en Portafolio vs. pendientes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4500" y="39814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4500" y="39814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17600" y="39433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17600" y="42100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retroalimentación directa al equipo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44500" y="47561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4500" y="47561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7600" y="47180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Estratégica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17600" y="49847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Causas, ranking de oportunidades y plan de mejora Q3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4500" y="55308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4500" y="5530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7600" y="54927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Awards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17600" y="57594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Categorías, dinámica y equipos ganadores del trimestre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1079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 Agilidad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44500" y="762000"/>
            <a:ext cx="1079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y qué evalúa?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1176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333500"/>
            <a:ext cx="5499100" cy="120650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7700" y="1511300"/>
            <a:ext cx="5092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7700" y="1701800"/>
            <a:ext cx="5092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evaluación trimestral que mide el nivel de madurez de las células ágiles, combinando la percepción del equipo, stakeholders y métricas objetivas de rendimiento.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96000" y="1333500"/>
            <a:ext cx="5499100" cy="120650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99200" y="1511300"/>
            <a:ext cx="5092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QUÉ?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99200" y="1701800"/>
            <a:ext cx="5092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las fortalezas y brechas de los equipos para definir acciones concretas de mejora durante el siguiente trimestre.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44500" y="30353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EVALÚA?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4500" y="3365500"/>
            <a:ext cx="2159000" cy="1270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4500" y="3365500"/>
            <a:ext cx="2159000" cy="3175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6900" y="3517900"/>
            <a:ext cx="1854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6900" y="3771900"/>
            <a:ext cx="185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al propósito, objetivos y prioridades.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30500" y="3365500"/>
            <a:ext cx="2159000" cy="1270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30500" y="3365500"/>
            <a:ext cx="2159000" cy="3175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82900" y="3517900"/>
            <a:ext cx="1854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882900" y="3771900"/>
            <a:ext cx="185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prácticas ágiles y hábitos de trabajo.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16500" y="3365500"/>
            <a:ext cx="2159000" cy="1270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16500" y="3365500"/>
            <a:ext cx="2159000" cy="3175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8900" y="3517900"/>
            <a:ext cx="1854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68900" y="3771900"/>
            <a:ext cx="185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saludable, colaborativo y orientado a la mejora.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02500" y="3365500"/>
            <a:ext cx="2159000" cy="1270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302500" y="3365500"/>
            <a:ext cx="2159000" cy="3175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54900" y="3517900"/>
            <a:ext cx="1854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454900" y="3771900"/>
            <a:ext cx="185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del PO, SM, LT y stakeholders en la evolución del equipo.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9588500" y="3365500"/>
            <a:ext cx="2159000" cy="1270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588500" y="3365500"/>
            <a:ext cx="2159000" cy="3175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40900" y="3517900"/>
            <a:ext cx="1854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740900" y="3771900"/>
            <a:ext cx="185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valor, compromisos y métricas de Azure DevOps.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44500" y="6083300"/>
            <a:ext cx="11303000" cy="533400"/>
          </a:xfrm>
          <a:prstGeom prst="roundRect">
            <a:avLst>
              <a:gd name="adj" fmla="val 13714"/>
            </a:avLst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4500" y="6083300"/>
            <a:ext cx="38100" cy="533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5000" y="6083300"/>
            <a:ext cx="1098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clave: </a:t>
            </a:r>
            <a:pPr indent="0" marL="0">
              <a:buNone/>
            </a:pPr>
            <a:r>
              <a:rPr lang="en-US" sz="115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assessment no es una nota; es una brújula para saber dónde estamos y qué debemos mejorar.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1079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Trimestral de Madurez Ágil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44500" y="762000"/>
            <a:ext cx="1079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Medir, analizar y convertir hallazgos en acciones de mejora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1176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84250" y="2508250"/>
            <a:ext cx="3048000" cy="1206500"/>
          </a:xfrm>
          <a:prstGeom prst="roundRect">
            <a:avLst>
              <a:gd name="adj" fmla="val 6821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49350" y="2647950"/>
            <a:ext cx="271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Evaluación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9350" y="2914650"/>
            <a:ext cx="2717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anónima a TMs, PO y stakeholders, guiada por el Scrum Master y complementada con métricas de Azure DevOps.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2508250"/>
            <a:ext cx="3048000" cy="1206500"/>
          </a:xfrm>
          <a:prstGeom prst="roundRect">
            <a:avLst>
              <a:gd name="adj" fmla="val 6821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37100" y="2647950"/>
            <a:ext cx="271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Medir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37100" y="2914650"/>
            <a:ext cx="2717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se visualizan en un radar que identifica fortalezas, brechas y competencias con mayor oportunidad de mejora. Se calcula la madurez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159750" y="2508250"/>
            <a:ext cx="3048000" cy="1206500"/>
          </a:xfrm>
          <a:prstGeom prst="roundRect">
            <a:avLst>
              <a:gd name="adj" fmla="val 6821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24850" y="2647950"/>
            <a:ext cx="271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Retrospectiva del Q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24850" y="2914650"/>
            <a:ext cx="2717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analiza causas, prioriza oportunidades y define un plan de mejora para el siguiente Q, registrado en el backlog y acompañado por el SM.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2250" y="3111500"/>
            <a:ext cx="539750" cy="0"/>
          </a:xfrm>
          <a:prstGeom prst="line">
            <a:avLst/>
          </a:prstGeom>
          <a:noFill/>
          <a:ln w="3175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620000" y="3111500"/>
            <a:ext cx="539750" cy="0"/>
          </a:xfrm>
          <a:prstGeom prst="line">
            <a:avLst/>
          </a:prstGeom>
          <a:noFill/>
          <a:ln w="3175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1207750" y="3095625"/>
            <a:ext cx="396875" cy="3175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572875" y="3095625"/>
            <a:ext cx="31750" cy="98425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7375" y="4048125"/>
            <a:ext cx="11017250" cy="3175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7375" y="3095625"/>
            <a:ext cx="31750" cy="98425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250" y="3111500"/>
            <a:ext cx="381000" cy="0"/>
          </a:xfrm>
          <a:prstGeom prst="line">
            <a:avLst/>
          </a:prstGeom>
          <a:noFill/>
          <a:ln w="3175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3556000" y="42672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TRIMESTRAL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44500" y="6083300"/>
            <a:ext cx="11303000" cy="533400"/>
          </a:xfrm>
          <a:prstGeom prst="roundRect">
            <a:avLst>
              <a:gd name="adj" fmla="val 13714"/>
            </a:avLst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4500" y="6083300"/>
            <a:ext cx="38100" cy="533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000" y="6083300"/>
            <a:ext cx="1098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trimestre cierra con aprendizajes y acciones concretas que alimentan el siguiente ciclo de mejora.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44500" y="8128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Consolidado: Apificación (Betagame), Ganbatte (Canal), Hydra (Betagame), Ragnarok (CAF), Stark (Negocio) y Voyager (Promociones)  ·  Q3-2026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2065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6573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4500" y="16573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7600" y="16192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 Agilidad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7600" y="18859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qué evalúa y cómo se mide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4500" y="2432050"/>
            <a:ext cx="444500" cy="444500"/>
          </a:xfrm>
          <a:prstGeom prst="ellipse">
            <a:avLst/>
          </a:prstGeom>
          <a:solidFill>
            <a:srgbClr val="D4A017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500" y="24320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17600" y="23939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Assessment — Equipo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7600" y="26606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Radar, competencias, madurez y evolución histórica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4500" y="32067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4500" y="32067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17600" y="31686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Valor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7600" y="34353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presentados en Portafolio vs. pendientes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4500" y="39814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4500" y="39814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17600" y="39433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17600" y="42100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retroalimentación directa al equipo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44500" y="47561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4500" y="47561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7600" y="47180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Estratégica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17600" y="49847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Causas, ranking de oportunidades y plan de mejora Q3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4500" y="55308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4500" y="5530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7600" y="54927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Awards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17600" y="57594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Categorías, dinámica y equipos ganadores del trimestre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1079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Madurez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44500" y="762000"/>
            <a:ext cx="1079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Consolidado: Apificación (Betagame), Ganbatte (Canal), Hydra (Betagame), Ragnarok (CAF), Stark (Negocio) y Voyager (Promociones)  ·  Q3-2026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1176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pic>
        <p:nvPicPr>
          <p:cNvPr id="6" name="Image 1" descr="/var/folders/qk/hh2_1by50kqbqjggnnrdgjfm0000gn/T/tmpnkph5vr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65250"/>
            <a:ext cx="4826000" cy="4826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8500" y="6254750"/>
            <a:ext cx="101600" cy="101600"/>
          </a:xfrm>
          <a:prstGeom prst="ellipse">
            <a:avLst/>
          </a:prstGeom>
          <a:solidFill>
            <a:srgbClr val="1538B5"/>
          </a:solidFill>
          <a:ln w="12700">
            <a:solidFill>
              <a:srgbClr val="1538B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50900" y="6210300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Q3-2026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905000" y="6254750"/>
            <a:ext cx="101600" cy="101600"/>
          </a:xfrm>
          <a:prstGeom prst="ellipse">
            <a:avLst/>
          </a:prstGeom>
          <a:solidFill>
            <a:srgbClr val="D81E26"/>
          </a:solidFill>
          <a:ln w="12700">
            <a:solidFill>
              <a:srgbClr val="D81E2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057400" y="6210300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05500" y="1270000"/>
            <a:ext cx="13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366000" y="13081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global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366000" y="14859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+0% vs Q2-2026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905500" y="2032000"/>
            <a:ext cx="5842000" cy="495300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057900" y="2032000"/>
            <a:ext cx="553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general: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en Q3-2026, nivel Pro; se mantiene estable (0% vs Q2-2026).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05500" y="2616200"/>
            <a:ext cx="5842000" cy="495300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057900" y="2616200"/>
            <a:ext cx="553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 clave: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(100%) es el punto desde donde conviene apoyar decisiones y conversaciones clave.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905500" y="3200400"/>
            <a:ext cx="5842000" cy="495300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057900" y="3200400"/>
            <a:ext cx="553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principal: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PI (48%); requiere foco antes de que se traduzca en deuda de coordinación.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905500" y="3784600"/>
            <a:ext cx="5842000" cy="495300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057900" y="3784600"/>
            <a:ext cx="553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integrada: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88% sostiene colaboración; rendimiento 72% pide más disciplina operativa.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905500" y="4368800"/>
            <a:ext cx="5842000" cy="495300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057900" y="4368800"/>
            <a:ext cx="553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último año: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sostenida; contrastar con alcance, cambios de equipo y carga operativa del periodo.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905500" y="4953000"/>
            <a:ext cx="5842000" cy="495300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6057900" y="4953000"/>
            <a:ext cx="553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siguiente Q: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PI: definir responsable, criterio de éxito y revisión semanal.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1079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por equipo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44500" y="762000"/>
            <a:ext cx="1079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Madurez, cultura y rendimiento · Q3-2026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1176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428750"/>
            <a:ext cx="5556250" cy="1587500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4500" y="1428750"/>
            <a:ext cx="63500" cy="1587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000" y="1543050"/>
            <a:ext cx="330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Apificación (Betagame)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18000" y="1530350"/>
            <a:ext cx="1333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18000" y="1670050"/>
            <a:ext cx="133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064000" y="2012950"/>
            <a:ext cx="1587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+9% vs Q2-2026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35000" y="1809750"/>
            <a:ext cx="952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5000" y="1962150"/>
            <a:ext cx="95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841500" y="1809750"/>
            <a:ext cx="1143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841500" y="1962150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5000" y="2286000"/>
            <a:ext cx="5016500" cy="0"/>
          </a:xfrm>
          <a:prstGeom prst="line">
            <a:avLst/>
          </a:prstGeom>
          <a:noFill/>
          <a:ln w="12700">
            <a:solidFill>
              <a:srgbClr val="E3E1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000" y="2368550"/>
            <a:ext cx="2095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FORTALEZAS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238500" y="2368550"/>
            <a:ext cx="228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OPORTUNIDADES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35000" y="2520950"/>
            <a:ext cx="234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Creatividad · 98%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Calidad · 98%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Confianza - Equipo · 95%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8500" y="252095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Features PI · 10%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Tiempo de Desarrollo · 30%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Predictibilidad · 60%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191250" y="1428750"/>
            <a:ext cx="5556250" cy="1587500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91250" y="1428750"/>
            <a:ext cx="63500" cy="1587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81750" y="1543050"/>
            <a:ext cx="330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(Canal)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064750" y="1530350"/>
            <a:ext cx="1333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064750" y="1670050"/>
            <a:ext cx="133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9810750" y="2012950"/>
            <a:ext cx="1587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-7% vs Q2-2026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381750" y="1809750"/>
            <a:ext cx="952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381750" y="1962150"/>
            <a:ext cx="95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588250" y="1809750"/>
            <a:ext cx="1143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588250" y="1962150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381750" y="2286000"/>
            <a:ext cx="5016500" cy="0"/>
          </a:xfrm>
          <a:prstGeom prst="line">
            <a:avLst/>
          </a:prstGeom>
          <a:noFill/>
          <a:ln w="12700">
            <a:solidFill>
              <a:srgbClr val="E3E1D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81750" y="2368550"/>
            <a:ext cx="2095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FORTALEZAS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985250" y="2368550"/>
            <a:ext cx="228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OPORTUNIDADES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381750" y="2520950"/>
            <a:ext cx="234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Confianza - Stakeholder · 100%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Calidad · 100%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Predictibilidad · 100%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985250" y="252095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Tiempo de Desarrollo · 30%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Features PI · 30%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Liderazgo LT · 49%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44500" y="3143250"/>
            <a:ext cx="5556250" cy="1587500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44500" y="3143250"/>
            <a:ext cx="63500" cy="1587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5000" y="3257550"/>
            <a:ext cx="330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(Betagame)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318000" y="3244850"/>
            <a:ext cx="1333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318000" y="3384550"/>
            <a:ext cx="133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400" dirty="0"/>
          </a:p>
        </p:txBody>
      </p:sp>
      <p:sp>
        <p:nvSpPr>
          <p:cNvPr id="41" name="Text 38"/>
          <p:cNvSpPr/>
          <p:nvPr/>
        </p:nvSpPr>
        <p:spPr>
          <a:xfrm>
            <a:off x="4064000" y="3727450"/>
            <a:ext cx="1587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+16% vs Q2-2026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35000" y="3524250"/>
            <a:ext cx="952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35000" y="3676650"/>
            <a:ext cx="95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1841500" y="3524250"/>
            <a:ext cx="1143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841500" y="3676650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635000" y="4000500"/>
            <a:ext cx="5016500" cy="0"/>
          </a:xfrm>
          <a:prstGeom prst="line">
            <a:avLst/>
          </a:prstGeom>
          <a:noFill/>
          <a:ln w="12700">
            <a:solidFill>
              <a:srgbClr val="E3E1D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35000" y="4083050"/>
            <a:ext cx="2095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FORTALEZAS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238500" y="4083050"/>
            <a:ext cx="228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OPORTUNIDADES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35000" y="4235450"/>
            <a:ext cx="234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Calidad · 100%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Compromiso PO · 98%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Colaboración · 94%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3238500" y="423545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Features PI · 50%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Confianza - Stakeholder · 67%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Colaboración y Valor · 75%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6191250" y="3143250"/>
            <a:ext cx="5556250" cy="1587500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191250" y="3143250"/>
            <a:ext cx="63500" cy="1587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381750" y="3257550"/>
            <a:ext cx="330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Ragnarok (CAF)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0064750" y="3244850"/>
            <a:ext cx="1333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10064750" y="3384550"/>
            <a:ext cx="133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2400" dirty="0"/>
          </a:p>
        </p:txBody>
      </p:sp>
      <p:sp>
        <p:nvSpPr>
          <p:cNvPr id="56" name="Text 53"/>
          <p:cNvSpPr/>
          <p:nvPr/>
        </p:nvSpPr>
        <p:spPr>
          <a:xfrm>
            <a:off x="9810750" y="3727450"/>
            <a:ext cx="1587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+13% vs Q2-2026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6381750" y="3524250"/>
            <a:ext cx="952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381750" y="3676650"/>
            <a:ext cx="95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500" dirty="0"/>
          </a:p>
        </p:txBody>
      </p:sp>
      <p:sp>
        <p:nvSpPr>
          <p:cNvPr id="59" name="Text 56"/>
          <p:cNvSpPr/>
          <p:nvPr/>
        </p:nvSpPr>
        <p:spPr>
          <a:xfrm>
            <a:off x="7588250" y="3524250"/>
            <a:ext cx="1143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7588250" y="3676650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6381750" y="4000500"/>
            <a:ext cx="5016500" cy="0"/>
          </a:xfrm>
          <a:prstGeom prst="line">
            <a:avLst/>
          </a:prstGeom>
          <a:noFill/>
          <a:ln w="12700">
            <a:solidFill>
              <a:srgbClr val="E3E1D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381750" y="4083050"/>
            <a:ext cx="2095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FORTALEZAS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8985250" y="4083050"/>
            <a:ext cx="228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OPORTUNIDADES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6381750" y="4235450"/>
            <a:ext cx="234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Confianza - Product Owner · 100%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Calidad · 99%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Confianza - Stakeholder · 97%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8985250" y="423545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Tiempo de Desarrollo · 60%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Features PI · 70%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Gestión de Cambios · 75%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44500" y="4857750"/>
            <a:ext cx="5556250" cy="1587500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44500" y="4857750"/>
            <a:ext cx="63500" cy="1587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35000" y="4972050"/>
            <a:ext cx="330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(Negocio)</a:t>
            </a:r>
            <a:endParaRPr lang="en-US" sz="1400" dirty="0"/>
          </a:p>
        </p:txBody>
      </p:sp>
      <p:sp>
        <p:nvSpPr>
          <p:cNvPr id="69" name="Text 66"/>
          <p:cNvSpPr/>
          <p:nvPr/>
        </p:nvSpPr>
        <p:spPr>
          <a:xfrm>
            <a:off x="4318000" y="4959350"/>
            <a:ext cx="1333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4318000" y="5099050"/>
            <a:ext cx="133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2400" dirty="0"/>
          </a:p>
        </p:txBody>
      </p:sp>
      <p:sp>
        <p:nvSpPr>
          <p:cNvPr id="71" name="Text 68"/>
          <p:cNvSpPr/>
          <p:nvPr/>
        </p:nvSpPr>
        <p:spPr>
          <a:xfrm>
            <a:off x="4064000" y="5441950"/>
            <a:ext cx="1587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+8% vs Q2-2026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635000" y="5238750"/>
            <a:ext cx="952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635000" y="5391150"/>
            <a:ext cx="95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500" dirty="0"/>
          </a:p>
        </p:txBody>
      </p:sp>
      <p:sp>
        <p:nvSpPr>
          <p:cNvPr id="74" name="Text 71"/>
          <p:cNvSpPr/>
          <p:nvPr/>
        </p:nvSpPr>
        <p:spPr>
          <a:xfrm>
            <a:off x="1841500" y="5238750"/>
            <a:ext cx="1143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1841500" y="5391150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500" dirty="0"/>
          </a:p>
        </p:txBody>
      </p:sp>
      <p:sp>
        <p:nvSpPr>
          <p:cNvPr id="76" name="Shape 73"/>
          <p:cNvSpPr/>
          <p:nvPr/>
        </p:nvSpPr>
        <p:spPr>
          <a:xfrm>
            <a:off x="635000" y="5715000"/>
            <a:ext cx="5016500" cy="0"/>
          </a:xfrm>
          <a:prstGeom prst="line">
            <a:avLst/>
          </a:prstGeom>
          <a:noFill/>
          <a:ln w="12700">
            <a:solidFill>
              <a:srgbClr val="E3E1D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35000" y="5797550"/>
            <a:ext cx="2095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FORTALEZAS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3238500" y="5797550"/>
            <a:ext cx="228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OPORTUNIDADES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635000" y="5949950"/>
            <a:ext cx="234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Calidad · 100%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Predictibilidad · 100%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Colaboración · 97%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3238500" y="594995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Features PI · 30%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Tiempo de Desarrollo · 80%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Confianza - Stakeholder · 90%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6191250" y="4857750"/>
            <a:ext cx="5556250" cy="1587500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191250" y="4857750"/>
            <a:ext cx="63500" cy="1587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381750" y="4972050"/>
            <a:ext cx="330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 (Promociones)</a:t>
            </a:r>
            <a:endParaRPr lang="en-US" sz="1400" dirty="0"/>
          </a:p>
        </p:txBody>
      </p:sp>
      <p:sp>
        <p:nvSpPr>
          <p:cNvPr id="84" name="Text 81"/>
          <p:cNvSpPr/>
          <p:nvPr/>
        </p:nvSpPr>
        <p:spPr>
          <a:xfrm>
            <a:off x="10064750" y="4959350"/>
            <a:ext cx="1333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</a:t>
            </a:r>
            <a:endParaRPr lang="en-US" sz="850" dirty="0"/>
          </a:p>
        </p:txBody>
      </p:sp>
      <p:sp>
        <p:nvSpPr>
          <p:cNvPr id="85" name="Text 82"/>
          <p:cNvSpPr/>
          <p:nvPr/>
        </p:nvSpPr>
        <p:spPr>
          <a:xfrm>
            <a:off x="10064750" y="5099050"/>
            <a:ext cx="133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400" dirty="0"/>
          </a:p>
        </p:txBody>
      </p:sp>
      <p:sp>
        <p:nvSpPr>
          <p:cNvPr id="86" name="Text 83"/>
          <p:cNvSpPr/>
          <p:nvPr/>
        </p:nvSpPr>
        <p:spPr>
          <a:xfrm>
            <a:off x="9810750" y="5441950"/>
            <a:ext cx="1587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-3% vs Q2-2026</a:t>
            </a:r>
            <a:endParaRPr lang="en-US" sz="850" dirty="0"/>
          </a:p>
        </p:txBody>
      </p:sp>
      <p:sp>
        <p:nvSpPr>
          <p:cNvPr id="87" name="Text 84"/>
          <p:cNvSpPr/>
          <p:nvPr/>
        </p:nvSpPr>
        <p:spPr>
          <a:xfrm>
            <a:off x="6381750" y="5238750"/>
            <a:ext cx="952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6381750" y="5391150"/>
            <a:ext cx="95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500" dirty="0"/>
          </a:p>
        </p:txBody>
      </p:sp>
      <p:sp>
        <p:nvSpPr>
          <p:cNvPr id="89" name="Text 86"/>
          <p:cNvSpPr/>
          <p:nvPr/>
        </p:nvSpPr>
        <p:spPr>
          <a:xfrm>
            <a:off x="7588250" y="5238750"/>
            <a:ext cx="1143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7588250" y="5391150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500" dirty="0"/>
          </a:p>
        </p:txBody>
      </p:sp>
      <p:sp>
        <p:nvSpPr>
          <p:cNvPr id="91" name="Shape 88"/>
          <p:cNvSpPr/>
          <p:nvPr/>
        </p:nvSpPr>
        <p:spPr>
          <a:xfrm>
            <a:off x="6381750" y="5715000"/>
            <a:ext cx="5016500" cy="0"/>
          </a:xfrm>
          <a:prstGeom prst="line">
            <a:avLst/>
          </a:prstGeom>
          <a:noFill/>
          <a:ln w="12700">
            <a:solidFill>
              <a:srgbClr val="E3E1DC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6381750" y="5797550"/>
            <a:ext cx="2095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FORTALEZAS</a:t>
            </a:r>
            <a:endParaRPr lang="en-US" sz="800" dirty="0"/>
          </a:p>
        </p:txBody>
      </p:sp>
      <p:sp>
        <p:nvSpPr>
          <p:cNvPr id="93" name="Text 90"/>
          <p:cNvSpPr/>
          <p:nvPr/>
        </p:nvSpPr>
        <p:spPr>
          <a:xfrm>
            <a:off x="8985250" y="5797550"/>
            <a:ext cx="228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OPORTUNIDADES</a:t>
            </a:r>
            <a:endParaRPr lang="en-US" sz="800" dirty="0"/>
          </a:p>
        </p:txBody>
      </p:sp>
      <p:sp>
        <p:nvSpPr>
          <p:cNvPr id="94" name="Text 91"/>
          <p:cNvSpPr/>
          <p:nvPr/>
        </p:nvSpPr>
        <p:spPr>
          <a:xfrm>
            <a:off x="6381750" y="5949950"/>
            <a:ext cx="234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Calidad · 100%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Features PI · 100%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Predictibilidad · 100%</a:t>
            </a:r>
            <a:endParaRPr lang="en-US" sz="850" dirty="0"/>
          </a:p>
        </p:txBody>
      </p:sp>
      <p:sp>
        <p:nvSpPr>
          <p:cNvPr id="95" name="Text 92"/>
          <p:cNvSpPr/>
          <p:nvPr/>
        </p:nvSpPr>
        <p:spPr>
          <a:xfrm>
            <a:off x="8985250" y="594995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Tiempo de Desarrollo · 30%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Confianza - Product Owner · 80%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Colaboración y Valor · 85%</a:t>
            </a:r>
            <a:endParaRPr lang="en-US" sz="850" dirty="0"/>
          </a:p>
        </p:txBody>
      </p:sp>
      <p:sp>
        <p:nvSpPr>
          <p:cNvPr id="96" name="Text 93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1079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accionables implementados sostienen la mejora continua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44500" y="762000"/>
            <a:ext cx="1079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cerradas por equipo · Q3 2026 · Azure DevOps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1176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492250"/>
            <a:ext cx="3175000" cy="3619500"/>
          </a:xfrm>
          <a:prstGeom prst="roundRect">
            <a:avLst>
              <a:gd name="adj" fmla="val 2304"/>
            </a:avLst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0250" y="1968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30250" y="282575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ACCIONABLES CERRADOS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0250" y="3524250"/>
            <a:ext cx="114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30250" y="4000500"/>
            <a:ext cx="2222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cierre: 62 de 66 accionables registrados en el trimestre, en 6 equipos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0250" y="466725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mejora ya está en ejecución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27500" y="1492250"/>
            <a:ext cx="711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por equipo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27500" y="1778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barra representa accionables finalizados durante el trimestre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27500" y="2222500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(Betagame)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27500" y="2425700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27500" y="2425700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48750" y="2370667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810750" y="2383367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- Agilidad · Claridad - Planificación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127500" y="2751667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 (Promociones)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27500" y="2954867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27500" y="2954867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48750" y="2899833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810750" y="2912533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- Dinámica de Equpo · Claridad - Visión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127500" y="3280833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Apificación (Betagame)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27500" y="3484033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27500" y="3484033"/>
            <a:ext cx="4027714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48750" y="34290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810750" y="3441700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- Agilidad · Fundación - Estructura de Equipo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127500" y="3810000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(Negocio)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127500" y="4013200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27500" y="4013200"/>
            <a:ext cx="3692071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48750" y="3958167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810750" y="3970867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- Dinámica de Equpo · Fundación - Agilidad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127500" y="4339167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Ragnarok (CAF)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127500" y="4542367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27500" y="4542367"/>
            <a:ext cx="2013857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48750" y="4487333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9810750" y="4500033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- Estructura de Equipo · Cultura - Dinámica de Equpo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127500" y="4868333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(Canal)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127500" y="5071533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27500" y="5071533"/>
            <a:ext cx="1678214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48750" y="50165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9810750" y="5029200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- Agilidad · Fundación - Estructura de Equipo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44500" y="5492750"/>
            <a:ext cx="11303000" cy="920750"/>
          </a:xfrm>
          <a:prstGeom prst="roundRect">
            <a:avLst>
              <a:gd name="adj" fmla="val 7945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44500" y="5492750"/>
            <a:ext cx="50800" cy="92075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6750" y="5683250"/>
            <a:ext cx="1587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666750" y="5905500"/>
            <a:ext cx="6223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equipos están transformando oportunidades detectadas en acciones concretas y verificables.</a:t>
            </a:r>
            <a:endParaRPr lang="en-US" sz="1250" dirty="0"/>
          </a:p>
        </p:txBody>
      </p:sp>
      <p:sp>
        <p:nvSpPr>
          <p:cNvPr id="48" name="Text 45"/>
          <p:cNvSpPr/>
          <p:nvPr/>
        </p:nvSpPr>
        <p:spPr>
          <a:xfrm>
            <a:off x="7112000" y="5778500"/>
            <a:ext cx="4318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Focos recurrentes: Fundación - Agilidad · Cultura - Dinámica de Equpo · Fundación - Estructura de Equipo.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444500" y="6508750"/>
            <a:ext cx="6350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Azure DevOps · Accionables de Mejora · Q3-2026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1079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44500" y="762000"/>
            <a:ext cx="1079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 y brechas del periodo actual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1176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492250"/>
            <a:ext cx="5461000" cy="4318000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3900" y="170815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3900" y="1987550"/>
            <a:ext cx="444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competencias con mayor resultado.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3900" y="24003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06700" y="2533650"/>
            <a:ext cx="2032000" cy="139700"/>
          </a:xfrm>
          <a:prstGeom prst="roundRect">
            <a:avLst>
              <a:gd name="adj" fmla="val 50000"/>
            </a:avLst>
          </a:prstGeom>
          <a:solidFill>
            <a:srgbClr val="ECEBE7"/>
          </a:solidFill>
          <a:ln w="12700">
            <a:solidFill>
              <a:srgbClr val="ECEB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06700" y="2533650"/>
            <a:ext cx="2032000" cy="139700"/>
          </a:xfrm>
          <a:prstGeom prst="roundRect">
            <a:avLst>
              <a:gd name="adj" fmla="val 50000"/>
            </a:avLst>
          </a:prstGeom>
          <a:solidFill>
            <a:srgbClr val="1E7A4D"/>
          </a:solidFill>
          <a:ln w="12700">
            <a:solidFill>
              <a:srgbClr val="1E7A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16500" y="2400300"/>
            <a:ext cx="60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3900" y="30226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06700" y="3155950"/>
            <a:ext cx="2032000" cy="139700"/>
          </a:xfrm>
          <a:prstGeom prst="roundRect">
            <a:avLst>
              <a:gd name="adj" fmla="val 50000"/>
            </a:avLst>
          </a:prstGeom>
          <a:solidFill>
            <a:srgbClr val="ECEBE7"/>
          </a:solidFill>
          <a:ln w="12700">
            <a:solidFill>
              <a:srgbClr val="ECEBE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06700" y="3155950"/>
            <a:ext cx="1889760" cy="139700"/>
          </a:xfrm>
          <a:prstGeom prst="roundRect">
            <a:avLst>
              <a:gd name="adj" fmla="val 50000"/>
            </a:avLst>
          </a:prstGeom>
          <a:solidFill>
            <a:srgbClr val="1E7A4D"/>
          </a:solidFill>
          <a:ln w="12700">
            <a:solidFill>
              <a:srgbClr val="1E7A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16500" y="3022600"/>
            <a:ext cx="60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23900" y="36449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- Equipo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806700" y="3778250"/>
            <a:ext cx="2032000" cy="139700"/>
          </a:xfrm>
          <a:prstGeom prst="roundRect">
            <a:avLst>
              <a:gd name="adj" fmla="val 50000"/>
            </a:avLst>
          </a:prstGeom>
          <a:solidFill>
            <a:srgbClr val="ECEBE7"/>
          </a:solidFill>
          <a:ln w="12700">
            <a:solidFill>
              <a:srgbClr val="ECEBE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06700" y="3778250"/>
            <a:ext cx="1889760" cy="139700"/>
          </a:xfrm>
          <a:prstGeom prst="roundRect">
            <a:avLst>
              <a:gd name="adj" fmla="val 50000"/>
            </a:avLst>
          </a:prstGeom>
          <a:solidFill>
            <a:srgbClr val="1E7A4D"/>
          </a:solidFill>
          <a:ln w="12700">
            <a:solidFill>
              <a:srgbClr val="1E7A4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16500" y="3644900"/>
            <a:ext cx="60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23900" y="42672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806700" y="4400550"/>
            <a:ext cx="2032000" cy="139700"/>
          </a:xfrm>
          <a:prstGeom prst="roundRect">
            <a:avLst>
              <a:gd name="adj" fmla="val 50000"/>
            </a:avLst>
          </a:prstGeom>
          <a:solidFill>
            <a:srgbClr val="ECEBE7"/>
          </a:solidFill>
          <a:ln w="12700">
            <a:solidFill>
              <a:srgbClr val="ECEBE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06700" y="4400550"/>
            <a:ext cx="1869440" cy="139700"/>
          </a:xfrm>
          <a:prstGeom prst="roundRect">
            <a:avLst>
              <a:gd name="adj" fmla="val 50000"/>
            </a:avLst>
          </a:prstGeom>
          <a:solidFill>
            <a:srgbClr val="1E7A4D"/>
          </a:solidFill>
          <a:ln w="12700">
            <a:solidFill>
              <a:srgbClr val="1E7A4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16500" y="4267200"/>
            <a:ext cx="60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23900" y="48895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806700" y="5022850"/>
            <a:ext cx="2032000" cy="139700"/>
          </a:xfrm>
          <a:prstGeom prst="roundRect">
            <a:avLst>
              <a:gd name="adj" fmla="val 50000"/>
            </a:avLst>
          </a:prstGeom>
          <a:solidFill>
            <a:srgbClr val="ECEBE7"/>
          </a:solidFill>
          <a:ln w="12700">
            <a:solidFill>
              <a:srgbClr val="ECEBE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06700" y="5022850"/>
            <a:ext cx="1869440" cy="139700"/>
          </a:xfrm>
          <a:prstGeom prst="roundRect">
            <a:avLst>
              <a:gd name="adj" fmla="val 50000"/>
            </a:avLst>
          </a:prstGeom>
          <a:solidFill>
            <a:srgbClr val="1E7A4D"/>
          </a:solidFill>
          <a:ln w="12700">
            <a:solidFill>
              <a:srgbClr val="1E7A4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16500" y="4889500"/>
            <a:ext cx="60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86500" y="1492250"/>
            <a:ext cx="5461000" cy="4318000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65900" y="170815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565900" y="1987550"/>
            <a:ext cx="444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competencias con menor resultado.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565900" y="24003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PI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648700" y="2533650"/>
            <a:ext cx="2032000" cy="139700"/>
          </a:xfrm>
          <a:prstGeom prst="roundRect">
            <a:avLst>
              <a:gd name="adj" fmla="val 50000"/>
            </a:avLst>
          </a:prstGeom>
          <a:solidFill>
            <a:srgbClr val="ECEBE7"/>
          </a:solidFill>
          <a:ln w="12700">
            <a:solidFill>
              <a:srgbClr val="ECEBE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48700" y="2533650"/>
            <a:ext cx="975360" cy="139700"/>
          </a:xfrm>
          <a:prstGeom prst="roundRect">
            <a:avLst>
              <a:gd name="adj" fmla="val 50000"/>
            </a:avLst>
          </a:prstGeom>
          <a:solidFill>
            <a:srgbClr val="D81E26"/>
          </a:solidFill>
          <a:ln w="12700">
            <a:solidFill>
              <a:srgbClr val="D81E2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858500" y="2400300"/>
            <a:ext cx="60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565900" y="30226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Desarrollo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648700" y="3155950"/>
            <a:ext cx="2032000" cy="139700"/>
          </a:xfrm>
          <a:prstGeom prst="roundRect">
            <a:avLst>
              <a:gd name="adj" fmla="val 50000"/>
            </a:avLst>
          </a:prstGeom>
          <a:solidFill>
            <a:srgbClr val="ECEBE7"/>
          </a:solidFill>
          <a:ln w="12700">
            <a:solidFill>
              <a:srgbClr val="ECEBE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648700" y="3155950"/>
            <a:ext cx="1056640" cy="139700"/>
          </a:xfrm>
          <a:prstGeom prst="roundRect">
            <a:avLst>
              <a:gd name="adj" fmla="val 50000"/>
            </a:avLst>
          </a:prstGeom>
          <a:solidFill>
            <a:srgbClr val="D81E26"/>
          </a:solidFill>
          <a:ln w="12700">
            <a:solidFill>
              <a:srgbClr val="D81E2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858500" y="3022600"/>
            <a:ext cx="60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565900" y="36449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Requerimientos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648700" y="3778250"/>
            <a:ext cx="2032000" cy="139700"/>
          </a:xfrm>
          <a:prstGeom prst="roundRect">
            <a:avLst>
              <a:gd name="adj" fmla="val 50000"/>
            </a:avLst>
          </a:prstGeom>
          <a:solidFill>
            <a:srgbClr val="ECEBE7"/>
          </a:solidFill>
          <a:ln w="12700">
            <a:solidFill>
              <a:srgbClr val="ECEBE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48700" y="3778250"/>
            <a:ext cx="1645920" cy="139700"/>
          </a:xfrm>
          <a:prstGeom prst="roundRect">
            <a:avLst>
              <a:gd name="adj" fmla="val 50000"/>
            </a:avLst>
          </a:prstGeom>
          <a:solidFill>
            <a:srgbClr val="D81E26"/>
          </a:solidFill>
          <a:ln w="12700">
            <a:solidFill>
              <a:srgbClr val="D81E2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858500" y="3644900"/>
            <a:ext cx="60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565900" y="42672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Cambios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8648700" y="4400550"/>
            <a:ext cx="2032000" cy="139700"/>
          </a:xfrm>
          <a:prstGeom prst="roundRect">
            <a:avLst>
              <a:gd name="adj" fmla="val 50000"/>
            </a:avLst>
          </a:prstGeom>
          <a:solidFill>
            <a:srgbClr val="ECEBE7"/>
          </a:solidFill>
          <a:ln w="12700">
            <a:solidFill>
              <a:srgbClr val="ECEBE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648700" y="4400550"/>
            <a:ext cx="1666240" cy="139700"/>
          </a:xfrm>
          <a:prstGeom prst="roundRect">
            <a:avLst>
              <a:gd name="adj" fmla="val 50000"/>
            </a:avLst>
          </a:prstGeom>
          <a:solidFill>
            <a:srgbClr val="D81E26"/>
          </a:solidFill>
          <a:ln w="12700">
            <a:solidFill>
              <a:srgbClr val="D81E2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858500" y="4267200"/>
            <a:ext cx="60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565900" y="48895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y Valor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8648700" y="5022850"/>
            <a:ext cx="2032000" cy="139700"/>
          </a:xfrm>
          <a:prstGeom prst="roundRect">
            <a:avLst>
              <a:gd name="adj" fmla="val 50000"/>
            </a:avLst>
          </a:prstGeom>
          <a:solidFill>
            <a:srgbClr val="ECEBE7"/>
          </a:solidFill>
          <a:ln w="12700">
            <a:solidFill>
              <a:srgbClr val="ECEBE7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648700" y="5022850"/>
            <a:ext cx="1666240" cy="139700"/>
          </a:xfrm>
          <a:prstGeom prst="roundRect">
            <a:avLst>
              <a:gd name="adj" fmla="val 50000"/>
            </a:avLst>
          </a:prstGeom>
          <a:solidFill>
            <a:srgbClr val="D81E26"/>
          </a:solidFill>
          <a:ln w="12700">
            <a:solidFill>
              <a:srgbClr val="D81E2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858500" y="4889500"/>
            <a:ext cx="60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1079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44500" y="762000"/>
            <a:ext cx="1079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Cultura, rendimiento y madurez vs Q2-2026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1176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905000"/>
            <a:ext cx="3594100" cy="1778000"/>
          </a:xfrm>
          <a:prstGeom prst="roundRect">
            <a:avLst>
              <a:gd name="adj" fmla="val 4114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44500" y="2159000"/>
            <a:ext cx="359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9A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44500" y="2413000"/>
            <a:ext cx="3594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44500" y="3111500"/>
            <a:ext cx="359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+6%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29100" y="1905000"/>
            <a:ext cx="3594100" cy="1778000"/>
          </a:xfrm>
          <a:prstGeom prst="roundRect">
            <a:avLst>
              <a:gd name="adj" fmla="val 4114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229100" y="2159000"/>
            <a:ext cx="359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9A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29100" y="2413000"/>
            <a:ext cx="3594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229100" y="3111500"/>
            <a:ext cx="359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-6%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13700" y="1905000"/>
            <a:ext cx="3594100" cy="1778000"/>
          </a:xfrm>
          <a:prstGeom prst="roundRect">
            <a:avLst>
              <a:gd name="adj" fmla="val 4114"/>
            </a:avLst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13700" y="2159000"/>
            <a:ext cx="359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13700" y="2413000"/>
            <a:ext cx="3594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8013700" y="3111500"/>
            <a:ext cx="359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+0% · nivel Pro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1079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Histórica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44500" y="762000"/>
            <a:ext cx="1079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cultura, rendimiento y madurez por período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1176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460500"/>
            <a:ext cx="11303000" cy="4318000"/>
          </a:xfrm>
          <a:prstGeom prst="roundRect">
            <a:avLst>
              <a:gd name="adj" fmla="val 2541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62000" y="1714500"/>
          <a:ext cx="10668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2044700" y="3520281"/>
            <a:ext cx="4064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38550" y="3237706"/>
            <a:ext cx="4064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232400" y="2813844"/>
            <a:ext cx="4064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826250" y="3025775"/>
            <a:ext cx="4064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420100" y="3025775"/>
            <a:ext cx="4064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013950" y="3025775"/>
            <a:ext cx="406400" cy="1905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44500" y="5873750"/>
            <a:ext cx="11303000" cy="533400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44500" y="5873750"/>
            <a:ext cx="50800" cy="533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6750" y="5969000"/>
            <a:ext cx="158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66750" y="6134100"/>
            <a:ext cx="1079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el Q2-2026 se midió a 4 células (Ganbatte, Ragnarok, Stark y Voyager). A partir del Q3-2026 se incluye el proyecto Betagame con 2 equipos (Apificación e Hydra).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44500" y="8128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Consolidado: Apificación (Betagame), Ganbatte (Canal), Hydra (Betagame), Ragnarok (CAF), Stark (Negocio) y Voyager (Promociones)  ·  Q3-2026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2065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6573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4500" y="16573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7600" y="16192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 Agilidad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7600" y="18859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qué evalúa y cómo se mide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4500" y="24320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500" y="24320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17600" y="23939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Assessment — Equipo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7600" y="26606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Radar, competencias, madurez y evolución histórica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4500" y="3206750"/>
            <a:ext cx="444500" cy="444500"/>
          </a:xfrm>
          <a:prstGeom prst="ellipse">
            <a:avLst/>
          </a:prstGeom>
          <a:solidFill>
            <a:srgbClr val="D4A017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4500" y="32067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17600" y="31686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Valor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7600" y="34353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presentados en Portafolio vs. pendientes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4500" y="39814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4500" y="39814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17600" y="39433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17600" y="42100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retroalimentación directa al equipo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44500" y="47561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4500" y="47561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7600" y="47180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Estratégica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17600" y="49847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Causas, ranking de oportunidades y plan de mejora Q3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4500" y="55308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4500" y="5530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7600" y="54927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Awards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17600" y="57594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Categorías, dinámica y equipos ganadores del trimestre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1079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Features materializan la entrega de valor del trimestre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44500" y="762000"/>
            <a:ext cx="1079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por equipo y Value Area · Q3 2026 · Azure DevOps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1176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492250"/>
            <a:ext cx="3175000" cy="3619500"/>
          </a:xfrm>
          <a:prstGeom prst="roundRect">
            <a:avLst>
              <a:gd name="adj" fmla="val 2304"/>
            </a:avLst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0250" y="1968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30250" y="282575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ENTREGADAS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0250" y="3524250"/>
            <a:ext cx="114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30250" y="4000500"/>
            <a:ext cx="222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de Negocio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0250" y="4476750"/>
            <a:ext cx="222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Habilitadores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27500" y="1492250"/>
            <a:ext cx="711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por equipo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27500" y="1778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 Features: Negocio (dorado) y Habilitadores (azul)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27500" y="22225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(Canal)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27500" y="2425700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27500" y="2425700"/>
            <a:ext cx="2255520" cy="14393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83020" y="2425700"/>
            <a:ext cx="2443480" cy="143933"/>
          </a:xfrm>
          <a:prstGeom prst="rect">
            <a:avLst/>
          </a:prstGeom>
          <a:solidFill>
            <a:srgbClr val="1538B5"/>
          </a:solidFill>
          <a:ln w="12700">
            <a:solidFill>
              <a:srgbClr val="1538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48750" y="2370667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810750" y="2383367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 · 13 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127500" y="2751667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(Betagame)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27500" y="2954867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27500" y="2954867"/>
            <a:ext cx="751840" cy="14393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79340" y="2954867"/>
            <a:ext cx="375920" cy="143933"/>
          </a:xfrm>
          <a:prstGeom prst="rect">
            <a:avLst/>
          </a:prstGeom>
          <a:solidFill>
            <a:srgbClr val="1538B5"/>
          </a:solidFill>
          <a:ln w="12700">
            <a:solidFill>
              <a:srgbClr val="1538B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48750" y="2899833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810750" y="2912533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 · 2 H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127500" y="3280833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Ragnarok (CAF)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127500" y="3484033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27500" y="3484033"/>
            <a:ext cx="939800" cy="14393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48750" y="34290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810750" y="3441700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 · 0 H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127500" y="38100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 (Promociones)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127500" y="4013200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127500" y="4013200"/>
            <a:ext cx="375920" cy="14393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03420" y="4013200"/>
            <a:ext cx="563880" cy="143933"/>
          </a:xfrm>
          <a:prstGeom prst="rect">
            <a:avLst/>
          </a:prstGeom>
          <a:solidFill>
            <a:srgbClr val="1538B5"/>
          </a:solidFill>
          <a:ln w="12700">
            <a:solidFill>
              <a:srgbClr val="1538B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48750" y="3958167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9810750" y="3970867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 · 3 H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127500" y="4339167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(Negocio)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127500" y="4542367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127500" y="4542367"/>
            <a:ext cx="375920" cy="143933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03420" y="4542367"/>
            <a:ext cx="187960" cy="143933"/>
          </a:xfrm>
          <a:prstGeom prst="rect">
            <a:avLst/>
          </a:prstGeom>
          <a:solidFill>
            <a:srgbClr val="1538B5"/>
          </a:solidFill>
          <a:ln w="12700">
            <a:solidFill>
              <a:srgbClr val="1538B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048750" y="4487333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9810750" y="4500033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 · 1 H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127500" y="4868333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Apificación (Betagame)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127500" y="5071533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048750" y="50165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9810750" y="5029200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 · 0 H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44500" y="5492750"/>
            <a:ext cx="11303000" cy="920750"/>
          </a:xfrm>
          <a:prstGeom prst="roundRect">
            <a:avLst>
              <a:gd name="adj" fmla="val 7945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44500" y="5492750"/>
            <a:ext cx="50800" cy="92075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6750" y="5683250"/>
            <a:ext cx="1587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VALOR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666750" y="5905500"/>
            <a:ext cx="6223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57% de las Features entregadas estuvo orientado directamente a valor de negocio.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7112000" y="5778500"/>
            <a:ext cx="4318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(Canal) concentró el mayor volumen (25); Ganbatte (Canal) lideró los habilitadores (13).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44500" y="6508750"/>
            <a:ext cx="6350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Azure DevOps · Q3 2026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44500" y="8128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Consolidado: Apificación (Betagame), Ganbatte (Canal), Hydra (Betagame), Ragnarok (CAF), Stark (Negocio) y Voyager (Promociones)  ·  Q3-2026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2065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6573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4500" y="16573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7600" y="16192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 Agilidad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7600" y="18859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qué evalúa y cómo se mide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4500" y="24320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500" y="24320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17600" y="23939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Assessment — Equipo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7600" y="26606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Radar, competencias, madurez y evolución histórica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4500" y="32067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4500" y="32067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17600" y="31686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Valor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7600" y="34353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presentados en Portafolio vs. pendientes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4500" y="3981450"/>
            <a:ext cx="444500" cy="444500"/>
          </a:xfrm>
          <a:prstGeom prst="ellipse">
            <a:avLst/>
          </a:prstGeom>
          <a:solidFill>
            <a:srgbClr val="D4A017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4500" y="39814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17600" y="39433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17600" y="42100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retroalimentación directa al equipo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44500" y="47561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4500" y="47561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7600" y="47180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Estratégica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17600" y="49847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Causas, ranking de oportunidades y plan de mejora Q3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4500" y="55308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4500" y="5530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7600" y="54927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Awards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17600" y="57594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Categorías, dinámica y equipos ganadores del trimestre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0" y="406400"/>
            <a:ext cx="1568196" cy="330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4500" y="1168400"/>
            <a:ext cx="11303000" cy="1905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44500" y="2730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1079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percepción de stakeholders alcanza 88% en el trimestre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44500" y="762000"/>
            <a:ext cx="1079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consolidados · Q3 2026 · 6 células de negocio · escala 1–5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1176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492250"/>
            <a:ext cx="3175000" cy="3619500"/>
          </a:xfrm>
          <a:prstGeom prst="roundRect">
            <a:avLst>
              <a:gd name="adj" fmla="val 2304"/>
            </a:avLst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0250" y="1968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4300" dirty="0"/>
          </a:p>
        </p:txBody>
      </p:sp>
      <p:sp>
        <p:nvSpPr>
          <p:cNvPr id="8" name="Text 5"/>
          <p:cNvSpPr/>
          <p:nvPr/>
        </p:nvSpPr>
        <p:spPr>
          <a:xfrm>
            <a:off x="730250" y="282575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CONSOLIDADO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0250" y="3524250"/>
            <a:ext cx="15557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317750" y="347980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0250" y="3981450"/>
            <a:ext cx="15557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percibido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317750" y="393700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0250" y="4438650"/>
            <a:ext cx="15557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entrega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317750" y="439420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127500" y="1492250"/>
            <a:ext cx="711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por equipo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127500" y="1778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Satisfacción, Valor Percibido y Tiempo de Entrega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27500" y="22225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(Canal)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27500" y="2425700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27500" y="2425700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53500" y="2370667"/>
            <a:ext cx="73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810750" y="2383367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5.0 · V 5.0 · T 5.0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127500" y="2751667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Ragnarok (CAF)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27500" y="2954867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27500" y="2954867"/>
            <a:ext cx="4539234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53500" y="2899833"/>
            <a:ext cx="73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96.6%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810750" y="2912533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4.5 · V 5.0 · T 5.0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127500" y="3280833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(Negocio)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127500" y="3484033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27500" y="3484033"/>
            <a:ext cx="4229100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53500" y="3429000"/>
            <a:ext cx="73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9810750" y="3441700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4.5 · V 4.5 · T 4.5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127500" y="38100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Apificación (Betagame)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127500" y="4013200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127500" y="4013200"/>
            <a:ext cx="4069334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953500" y="3958167"/>
            <a:ext cx="73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86.6%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9810750" y="3970867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5.0 · V 4.0 · T 4.0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127500" y="4339167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 (Promociones)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127500" y="4542367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127500" y="4542367"/>
            <a:ext cx="4069334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953500" y="4487333"/>
            <a:ext cx="73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86.6%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9810750" y="4500033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4.5 · V 4.0 · T 4.5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127500" y="4868333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(Betagame)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127500" y="5071533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27500" y="5071533"/>
            <a:ext cx="3129534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53500" y="5016500"/>
            <a:ext cx="73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66.6%</a:t>
            </a:r>
            <a:endParaRPr lang="en-US" sz="1700" dirty="0"/>
          </a:p>
        </p:txBody>
      </p:sp>
      <p:sp>
        <p:nvSpPr>
          <p:cNvPr id="46" name="Text 43"/>
          <p:cNvSpPr/>
          <p:nvPr/>
        </p:nvSpPr>
        <p:spPr>
          <a:xfrm>
            <a:off x="9810750" y="5029200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3.0 · V 4.0 · T 3.0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44500" y="5492750"/>
            <a:ext cx="11303000" cy="920750"/>
          </a:xfrm>
          <a:prstGeom prst="roundRect">
            <a:avLst>
              <a:gd name="adj" fmla="val 7945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44500" y="5492750"/>
            <a:ext cx="50800" cy="92075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6750" y="568325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DEL STAKEHOLDER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666750" y="5905500"/>
            <a:ext cx="6223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entrega concentra la principal oportunidad del consolidado (87%).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7112000" y="5778500"/>
            <a:ext cx="4318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(Canal) lidera la percepción (100%); Hydra (Betagame) presenta el menor promedio (67%).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44500" y="6477000"/>
            <a:ext cx="635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Resultados de encuesta · Q3-2026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44500" y="8128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Consolidado: Apificación (Betagame), Ganbatte (Canal), Hydra (Betagame), Ragnarok (CAF), Stark (Negocio) y Voyager (Promociones)  ·  Q3-2026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2065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6573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4500" y="16573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7600" y="16192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 Agilidad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7600" y="18859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qué evalúa y cómo se mide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4500" y="24320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500" y="24320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17600" y="23939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Assessment — Equipo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7600" y="26606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Radar, competencias, madurez y evolución histórica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4500" y="32067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4500" y="32067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17600" y="31686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Valor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7600" y="34353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presentados en Portafolio vs. pendientes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4500" y="39814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4500" y="39814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17600" y="39433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17600" y="42100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retroalimentación directa al equipo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44500" y="4756150"/>
            <a:ext cx="444500" cy="444500"/>
          </a:xfrm>
          <a:prstGeom prst="ellipse">
            <a:avLst/>
          </a:prstGeom>
          <a:solidFill>
            <a:srgbClr val="D4A017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4500" y="47561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7600" y="47180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Estratégica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17600" y="49847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Causas, ranking de oportunidades y plan de mejora Q3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4500" y="55308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4500" y="5530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7600" y="54927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Awards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17600" y="57594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Categorías, dinámica y equipos ganadores del trimestre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1079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mejoras en curso al cierre del trimestre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44500" y="762000"/>
            <a:ext cx="1079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estratégica · Q3 2026 · Azure DevOps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1176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492250"/>
            <a:ext cx="3175000" cy="3619500"/>
          </a:xfrm>
          <a:prstGeom prst="roundRect">
            <a:avLst>
              <a:gd name="adj" fmla="val 2304"/>
            </a:avLst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0250" y="1968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30250" y="282575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EN CURSO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0250" y="3524250"/>
            <a:ext cx="114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30250" y="4000500"/>
            <a:ext cx="222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4 ya en progreso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0250" y="4476750"/>
            <a:ext cx="222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iniciar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27500" y="1492250"/>
            <a:ext cx="711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mejora por equipo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27500" y="1778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barra representa las mejoras abiertas (en progreso o por iniciar) al cierre del trimestre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27500" y="22225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 (Promociones)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27500" y="2425700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27500" y="2425700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48750" y="2370667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810750" y="2383367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127500" y="2751667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Apificación (Betagame)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27500" y="2954867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27500" y="2954867"/>
            <a:ext cx="1566333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48750" y="2899833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810750" y="2912533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- Facilitador de Equipo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127500" y="3280833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(Canal)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27500" y="3484033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27500" y="3484033"/>
            <a:ext cx="254000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48750" y="34290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810750" y="3441700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127500" y="38100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(Betagame)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127500" y="4013200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27500" y="4013200"/>
            <a:ext cx="254000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48750" y="3958167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810750" y="3970867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127500" y="4339167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Ragnarok (CAF)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127500" y="4542367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27500" y="4542367"/>
            <a:ext cx="254000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48750" y="4487333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9810750" y="4500033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127500" y="4868333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(Negocio)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127500" y="5071533"/>
            <a:ext cx="4699000" cy="143933"/>
          </a:xfrm>
          <a:prstGeom prst="roundRect">
            <a:avLst>
              <a:gd name="adj" fmla="val 76235"/>
            </a:avLst>
          </a:prstGeom>
          <a:solidFill>
            <a:srgbClr val="E7E5E0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27500" y="5071533"/>
            <a:ext cx="254000" cy="143933"/>
          </a:xfrm>
          <a:prstGeom prst="roundRect">
            <a:avLst>
              <a:gd name="adj" fmla="val 7623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48750" y="50165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9810750" y="5029200"/>
            <a:ext cx="1651000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44500" y="5492750"/>
            <a:ext cx="11303000" cy="920750"/>
          </a:xfrm>
          <a:prstGeom prst="roundRect">
            <a:avLst>
              <a:gd name="adj" fmla="val 7945"/>
            </a:avLst>
          </a:prstGeom>
          <a:solidFill>
            <a:srgbClr val="FFFFFF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44500" y="5492750"/>
            <a:ext cx="50800" cy="92075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6750" y="5683250"/>
            <a:ext cx="1587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DEL TRIMESTRE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666750" y="5905500"/>
            <a:ext cx="6223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mejoras ya están en ejecución; el siguiente paso es acelerar las 1 aún no iniciadas.</a:t>
            </a:r>
            <a:endParaRPr lang="en-US" sz="1250" dirty="0"/>
          </a:p>
        </p:txBody>
      </p:sp>
      <p:sp>
        <p:nvSpPr>
          <p:cNvPr id="48" name="Text 45"/>
          <p:cNvSpPr/>
          <p:nvPr/>
        </p:nvSpPr>
        <p:spPr>
          <a:xfrm>
            <a:off x="7112000" y="5778500"/>
            <a:ext cx="4318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 (Promociones) concentra el mayor portafolio (3). Aspectos generales: Cultura · Liderazgo - Facilitador de Equipo.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444500" y="6477000"/>
            <a:ext cx="698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Azure DevOps · Accionables de Mejora abiertos · Q3-2026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4064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44500" y="8128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Consolidado: Apificación (Betagame), Ganbatte (Canal), Hydra (Betagame), Ragnarok (CAF), Stark (Negocio) y Voyager (Promociones)  ·  Q3-2026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44500" y="1206500"/>
            <a:ext cx="11303000" cy="1270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4500" y="16573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4500" y="16573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7600" y="16192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 Agilidad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7600" y="18859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qué evalúa y cómo se mide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4500" y="24320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500" y="24320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17600" y="23939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Assessment — Equipo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7600" y="26606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Radar, competencias, madurez y evolución histórica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4500" y="32067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4500" y="32067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17600" y="31686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Valor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7600" y="34353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presentados en Portafolio vs. pendientes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4500" y="39814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4500" y="39814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17600" y="39433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17600" y="42100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retroalimentación directa al equipo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44500" y="4756150"/>
            <a:ext cx="444500" cy="444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4500" y="47561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7600" y="47180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Estratégica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17600" y="49847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Causas, ranking de oportunidades y plan de mejora Q3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4500" y="5530850"/>
            <a:ext cx="444500" cy="444500"/>
          </a:xfrm>
          <a:prstGeom prst="ellipse">
            <a:avLst/>
          </a:prstGeom>
          <a:solidFill>
            <a:srgbClr val="D4A017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4500" y="5530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7600" y="5492750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Awards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17600" y="575945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Categorías, dinámica y equipos ganadores del trimestre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6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6000" y="-3175000"/>
            <a:ext cx="5080000" cy="5080000"/>
          </a:xfrm>
          <a:prstGeom prst="ellipse">
            <a:avLst/>
          </a:prstGeom>
          <a:ln w="12700">
            <a:solidFill>
              <a:srgbClr val="161615">
                <a:alpha val="0"/>
              </a:srgbClr>
            </a:solidFill>
            <a:prstDash val="solid"/>
          </a:ln>
        </p:spPr>
      </p:sp>
      <p:pic>
        <p:nvPicPr>
          <p:cNvPr id="3" name="Image 0" descr="/Users/jeanpiere/Developer/acity/assessment-atlantic/ac-maturity-ai/02_generacion_reportes/assets/awards/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500" y="1524000"/>
            <a:ext cx="3048000" cy="2641600"/>
          </a:xfrm>
          <a:prstGeom prst="rect">
            <a:avLst/>
          </a:prstGeom>
        </p:spPr>
      </p:pic>
      <p:pic>
        <p:nvPicPr>
          <p:cNvPr id="4" name="Image 1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142" y="368300"/>
            <a:ext cx="1267358" cy="2667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44500" y="444500"/>
            <a:ext cx="1143000" cy="241300"/>
          </a:xfrm>
          <a:prstGeom prst="roundRect">
            <a:avLst>
              <a:gd name="adj" fmla="val 75789"/>
            </a:avLst>
          </a:prstGeom>
          <a:solidFill>
            <a:srgbClr val="161615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44500" y="444500"/>
            <a:ext cx="1143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44500" y="1270000"/>
            <a:ext cx="571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444500" y="3111500"/>
            <a:ext cx="527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iniciativa impulsada desde Agilidad para reconocer a los equipos y personas que destacan por sus prácticas, resultados y comportamientos del trimestre. No es una competencia tradicional: es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sana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motivarse a superarse, aprender unos de otros y elevar la madurez ágil juntos.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4500" y="47625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BUSCAMOS PROMOVER?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44500" y="5048250"/>
            <a:ext cx="1936750" cy="292100"/>
          </a:xfrm>
          <a:prstGeom prst="roundRect">
            <a:avLst>
              <a:gd name="adj" fmla="val 62609"/>
            </a:avLst>
          </a:prstGeom>
          <a:solidFill>
            <a:srgbClr val="161615"/>
          </a:solidFill>
          <a:ln w="9525">
            <a:solidFill>
              <a:srgbClr val="3A38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4500" y="5048250"/>
            <a:ext cx="19367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 sostenida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470150" y="5048250"/>
            <a:ext cx="2146300" cy="292100"/>
          </a:xfrm>
          <a:prstGeom prst="roundRect">
            <a:avLst>
              <a:gd name="adj" fmla="val 62609"/>
            </a:avLst>
          </a:prstGeom>
          <a:solidFill>
            <a:srgbClr val="161615"/>
          </a:solidFill>
          <a:ln w="9525">
            <a:solidFill>
              <a:srgbClr val="3A38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70150" y="5048250"/>
            <a:ext cx="214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con los objetivos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5350" y="5048250"/>
            <a:ext cx="2565400" cy="292100"/>
          </a:xfrm>
          <a:prstGeom prst="roundRect">
            <a:avLst>
              <a:gd name="adj" fmla="val 62609"/>
            </a:avLst>
          </a:prstGeom>
          <a:solidFill>
            <a:srgbClr val="161615"/>
          </a:solidFill>
          <a:ln w="9525">
            <a:solidFill>
              <a:srgbClr val="3A38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05350" y="5048250"/>
            <a:ext cx="2565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entre roles y equipos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359650" y="5048250"/>
            <a:ext cx="2076450" cy="292100"/>
          </a:xfrm>
          <a:prstGeom prst="roundRect">
            <a:avLst>
              <a:gd name="adj" fmla="val 62609"/>
            </a:avLst>
          </a:prstGeom>
          <a:solidFill>
            <a:srgbClr val="161615"/>
          </a:solidFill>
          <a:ln w="9525">
            <a:solidFill>
              <a:srgbClr val="3A38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59650" y="5048250"/>
            <a:ext cx="20764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en resultados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9525000" y="5048250"/>
            <a:ext cx="2216150" cy="292100"/>
          </a:xfrm>
          <a:prstGeom prst="roundRect">
            <a:avLst>
              <a:gd name="adj" fmla="val 62609"/>
            </a:avLst>
          </a:prstGeom>
          <a:solidFill>
            <a:srgbClr val="161615"/>
          </a:solidFill>
          <a:ln w="9525">
            <a:solidFill>
              <a:srgbClr val="3A38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525000" y="5048250"/>
            <a:ext cx="2216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que inspiran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44500" y="5403850"/>
            <a:ext cx="2495550" cy="292100"/>
          </a:xfrm>
          <a:prstGeom prst="roundRect">
            <a:avLst>
              <a:gd name="adj" fmla="val 62609"/>
            </a:avLst>
          </a:prstGeom>
          <a:solidFill>
            <a:srgbClr val="161615"/>
          </a:solidFill>
          <a:ln w="9525">
            <a:solidFill>
              <a:srgbClr val="3A38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4500" y="5403850"/>
            <a:ext cx="24955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saludable de la madurez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44500" y="6096000"/>
            <a:ext cx="1130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se trata de competir por competir, sino de reconocer comportamientos que elevan el estándar de todos los equipos.”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16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193" y="279400"/>
            <a:ext cx="1086307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254000"/>
            <a:ext cx="889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los Agility Awards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44500" y="571500"/>
            <a:ext cx="1079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insignias en juego · un premio por equipo, una historia de comportamientos a multiplicar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4500" y="952500"/>
            <a:ext cx="2622550" cy="2540000"/>
          </a:xfrm>
          <a:prstGeom prst="roundRect">
            <a:avLst>
              <a:gd name="adj" fmla="val 5040"/>
            </a:avLst>
          </a:prstGeom>
          <a:solidFill>
            <a:srgbClr val="232320"/>
          </a:solidFill>
          <a:ln w="6350">
            <a:solidFill>
              <a:srgbClr val="3A3833"/>
            </a:solidFill>
            <a:prstDash val="solid"/>
          </a:ln>
        </p:spPr>
      </p:sp>
      <p:pic>
        <p:nvPicPr>
          <p:cNvPr id="6" name="Image 1" descr="/Users/jeanpiere/Developer/acity/assessment-atlantic/ac-maturity-ai/02_generacion_reportes/assets/awards/predictibilid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1206500"/>
            <a:ext cx="1016000" cy="101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38125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PREDICTIBILIDAD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6900" y="2762250"/>
            <a:ext cx="2317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cumplimiento de lo planificado en el trimestre.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206750" y="952500"/>
            <a:ext cx="2622550" cy="2540000"/>
          </a:xfrm>
          <a:prstGeom prst="roundRect">
            <a:avLst>
              <a:gd name="adj" fmla="val 5040"/>
            </a:avLst>
          </a:prstGeom>
          <a:solidFill>
            <a:srgbClr val="232320"/>
          </a:solidFill>
          <a:ln w="6350">
            <a:solidFill>
              <a:srgbClr val="3A3833"/>
            </a:solidFill>
            <a:prstDash val="solid"/>
          </a:ln>
        </p:spPr>
      </p:sp>
      <p:pic>
        <p:nvPicPr>
          <p:cNvPr id="10" name="Image 2" descr="/Users/jeanpiere/Developer/acity/assessment-atlantic/ac-maturity-ai/02_generacion_reportes/assets/awards/capacid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25" y="1206500"/>
            <a:ext cx="1016000" cy="1016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33750" y="238125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359150" y="2762250"/>
            <a:ext cx="2317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efectividad en el registro de horas vs. capacidad instalada.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969000" y="952500"/>
            <a:ext cx="2622550" cy="2540000"/>
          </a:xfrm>
          <a:prstGeom prst="roundRect">
            <a:avLst>
              <a:gd name="adj" fmla="val 5040"/>
            </a:avLst>
          </a:prstGeom>
          <a:solidFill>
            <a:srgbClr val="232320"/>
          </a:solidFill>
          <a:ln w="6350">
            <a:solidFill>
              <a:srgbClr val="3A3833"/>
            </a:solidFill>
            <a:prstDash val="solid"/>
          </a:ln>
        </p:spPr>
      </p:sp>
      <p:pic>
        <p:nvPicPr>
          <p:cNvPr id="14" name="Image 3" descr="/Users/jeanpiere/Developer/acity/assessment-atlantic/ac-maturity-ai/02_generacion_reportes/assets/awards/titan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1206500"/>
            <a:ext cx="1016000" cy="1016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96000" y="238125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TITANES DEL COMPROMISO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121400" y="2762250"/>
            <a:ext cx="2317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Culminó todos los features declarados en la PI.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8731250" y="952500"/>
            <a:ext cx="2622550" cy="2540000"/>
          </a:xfrm>
          <a:prstGeom prst="roundRect">
            <a:avLst>
              <a:gd name="adj" fmla="val 5040"/>
            </a:avLst>
          </a:prstGeom>
          <a:solidFill>
            <a:srgbClr val="232320"/>
          </a:solidFill>
          <a:ln w="6350">
            <a:solidFill>
              <a:srgbClr val="3A3833"/>
            </a:solidFill>
            <a:prstDash val="solid"/>
          </a:ln>
        </p:spPr>
      </p:sp>
      <p:pic>
        <p:nvPicPr>
          <p:cNvPr id="18" name="Image 4" descr="/Users/jeanpiere/Developer/acity/assessment-atlantic/ac-maturity-ai/02_generacion_reportes/assets/awards/leg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525" y="1206500"/>
            <a:ext cx="1016000" cy="1016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58250" y="238125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LEGIÓN DE LA CONFIANZA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883650" y="2762250"/>
            <a:ext cx="2317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confianza del stakeholder hacia el equipo.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2247900" y="3683000"/>
            <a:ext cx="2622550" cy="2540000"/>
          </a:xfrm>
          <a:prstGeom prst="roundRect">
            <a:avLst>
              <a:gd name="adj" fmla="val 5040"/>
            </a:avLst>
          </a:prstGeom>
          <a:solidFill>
            <a:srgbClr val="232320"/>
          </a:solidFill>
          <a:ln w="6350">
            <a:solidFill>
              <a:srgbClr val="3A3833"/>
            </a:solidFill>
            <a:prstDash val="solid"/>
          </a:ln>
        </p:spPr>
      </p:sp>
      <p:pic>
        <p:nvPicPr>
          <p:cNvPr id="22" name="Image 5" descr="/Users/jeanpiere/Developer/acity/assessment-atlantic/ac-maturity-ai/02_generacion_reportes/assets/awards/excelenci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1175" y="3937000"/>
            <a:ext cx="1016000" cy="10160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374900" y="511175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LA EXCELENCIA ÁGIL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2400300" y="5492750"/>
            <a:ext cx="2317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índice de madurez integral del equipo.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5010150" y="3683000"/>
            <a:ext cx="2622550" cy="2540000"/>
          </a:xfrm>
          <a:prstGeom prst="roundRect">
            <a:avLst>
              <a:gd name="adj" fmla="val 5040"/>
            </a:avLst>
          </a:prstGeom>
          <a:solidFill>
            <a:srgbClr val="232320"/>
          </a:solidFill>
          <a:ln w="6350">
            <a:solidFill>
              <a:srgbClr val="3A3833"/>
            </a:solidFill>
            <a:prstDash val="solid"/>
          </a:ln>
        </p:spPr>
      </p:sp>
      <p:pic>
        <p:nvPicPr>
          <p:cNvPr id="26" name="Image 6" descr="/Users/jeanpiere/Developer/acity/assessment-atlantic/ac-maturity-ai/02_generacion_reportes/assets/awards/triden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3425" y="3937000"/>
            <a:ext cx="1016000" cy="10160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37150" y="511175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TRIDENTE LEGENDARIO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5162550" y="5492750"/>
            <a:ext cx="2317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liderazgo de la tríada SM, PO y LT.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7772400" y="3683000"/>
            <a:ext cx="2622550" cy="2540000"/>
          </a:xfrm>
          <a:prstGeom prst="roundRect">
            <a:avLst>
              <a:gd name="adj" fmla="val 5040"/>
            </a:avLst>
          </a:prstGeom>
          <a:solidFill>
            <a:srgbClr val="232320"/>
          </a:solidFill>
          <a:ln w="6350">
            <a:solidFill>
              <a:srgbClr val="3A3833"/>
            </a:solidFill>
            <a:prstDash val="solid"/>
          </a:ln>
        </p:spPr>
      </p:sp>
      <p:pic>
        <p:nvPicPr>
          <p:cNvPr id="30" name="Image 7" descr="/Users/jeanpiere/Developer/acity/assessment-atlantic/ac-maturity-ai/02_generacion_reportes/assets/awards/mv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5675" y="3937000"/>
            <a:ext cx="1016000" cy="10160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899400" y="511175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SUPREMO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7924800" y="5492750"/>
            <a:ext cx="2317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con mayor votación del equipo.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444500" y="6540500"/>
            <a:ext cx="1130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Reconocemos resultados, pero sobre todo los comportamientos que queremos seguir multiplicando.</a:t>
            </a:r>
            <a:endParaRPr lang="en-US" sz="1000" dirty="0"/>
          </a:p>
        </p:txBody>
      </p:sp>
      <p:sp>
        <p:nvSpPr>
          <p:cNvPr id="34" name="Text 24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6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eanpiere/Developer/acity/assessment-atlantic/ac-maturity-ai/02_generacion_reportes/assets/branding/atlantic_cit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193" y="279400"/>
            <a:ext cx="1086307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500" y="254000"/>
            <a:ext cx="889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Ganadores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44500" y="571500"/>
            <a:ext cx="1079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Awards · Q3-2026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4500" y="952500"/>
            <a:ext cx="2622550" cy="2222500"/>
          </a:xfrm>
          <a:prstGeom prst="roundRect">
            <a:avLst>
              <a:gd name="adj" fmla="val 5760"/>
            </a:avLst>
          </a:prstGeom>
          <a:solidFill>
            <a:srgbClr val="232320"/>
          </a:solidFill>
          <a:ln w="6350">
            <a:solidFill>
              <a:srgbClr val="6B5A1E"/>
            </a:solidFill>
            <a:prstDash val="solid"/>
          </a:ln>
        </p:spPr>
      </p:sp>
      <p:pic>
        <p:nvPicPr>
          <p:cNvPr id="6" name="Image 1" descr="/Users/jeanpiere/Developer/acity/assessment-atlantic/ac-maturity-ai/02_generacion_reportes/assets/awards/predictibilid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1206500"/>
            <a:ext cx="1016000" cy="101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3622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PREDICTIBILIDAD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71500" y="26797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(CANAL), STARK (NEGOCIO), VOYAGER (PROMOCIONES)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06750" y="952500"/>
            <a:ext cx="2622550" cy="2222500"/>
          </a:xfrm>
          <a:prstGeom prst="roundRect">
            <a:avLst>
              <a:gd name="adj" fmla="val 5760"/>
            </a:avLst>
          </a:prstGeom>
          <a:solidFill>
            <a:srgbClr val="232320"/>
          </a:solidFill>
          <a:ln w="6350">
            <a:solidFill>
              <a:srgbClr val="6B5A1E"/>
            </a:solidFill>
            <a:prstDash val="solid"/>
          </a:ln>
        </p:spPr>
      </p:sp>
      <p:pic>
        <p:nvPicPr>
          <p:cNvPr id="10" name="Image 2" descr="/Users/jeanpiere/Developer/acity/assessment-atlantic/ac-maturity-ai/02_generacion_reportes/assets/awards/capacid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25" y="1206500"/>
            <a:ext cx="1016000" cy="1016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33750" y="23622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333750" y="26797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APIFICACIÓN (BETAGAME)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969000" y="952500"/>
            <a:ext cx="2622550" cy="2222500"/>
          </a:xfrm>
          <a:prstGeom prst="roundRect">
            <a:avLst>
              <a:gd name="adj" fmla="val 5760"/>
            </a:avLst>
          </a:prstGeom>
          <a:solidFill>
            <a:srgbClr val="232320"/>
          </a:solidFill>
          <a:ln w="6350">
            <a:solidFill>
              <a:srgbClr val="6B5A1E"/>
            </a:solidFill>
            <a:prstDash val="solid"/>
          </a:ln>
        </p:spPr>
      </p:sp>
      <p:pic>
        <p:nvPicPr>
          <p:cNvPr id="14" name="Image 3" descr="/Users/jeanpiere/Developer/acity/assessment-atlantic/ac-maturity-ai/02_generacion_reportes/assets/awards/titan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1206500"/>
            <a:ext cx="1016000" cy="1016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96000" y="23622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TITANES DEL COMPROMISO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096000" y="26797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 (PROMOCIONES)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731250" y="952500"/>
            <a:ext cx="2622550" cy="2222500"/>
          </a:xfrm>
          <a:prstGeom prst="roundRect">
            <a:avLst>
              <a:gd name="adj" fmla="val 5760"/>
            </a:avLst>
          </a:prstGeom>
          <a:solidFill>
            <a:srgbClr val="232320"/>
          </a:solidFill>
          <a:ln w="6350">
            <a:solidFill>
              <a:srgbClr val="6B5A1E"/>
            </a:solidFill>
            <a:prstDash val="solid"/>
          </a:ln>
        </p:spPr>
      </p:sp>
      <p:pic>
        <p:nvPicPr>
          <p:cNvPr id="18" name="Image 4" descr="/Users/jeanpiere/Developer/acity/assessment-atlantic/ac-maturity-ai/02_generacion_reportes/assets/awards/leg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525" y="1206500"/>
            <a:ext cx="1016000" cy="1016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58250" y="23622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LEGIÓN DE LA CONFIANZA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8858250" y="26797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(CANAL)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2247900" y="3683000"/>
            <a:ext cx="2622550" cy="2222500"/>
          </a:xfrm>
          <a:prstGeom prst="roundRect">
            <a:avLst>
              <a:gd name="adj" fmla="val 5760"/>
            </a:avLst>
          </a:prstGeom>
          <a:solidFill>
            <a:srgbClr val="232320"/>
          </a:solidFill>
          <a:ln w="6350">
            <a:solidFill>
              <a:srgbClr val="6B5A1E"/>
            </a:solidFill>
            <a:prstDash val="solid"/>
          </a:ln>
        </p:spPr>
      </p:sp>
      <p:pic>
        <p:nvPicPr>
          <p:cNvPr id="22" name="Image 5" descr="/Users/jeanpiere/Developer/acity/assessment-atlantic/ac-maturity-ai/02_generacion_reportes/assets/awards/excelenci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1175" y="3937000"/>
            <a:ext cx="1016000" cy="10160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374900" y="50927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LA EXCELENCIA ÁGIL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2374900" y="54102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 (PROMOCIONES)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010150" y="3683000"/>
            <a:ext cx="2622550" cy="2222500"/>
          </a:xfrm>
          <a:prstGeom prst="roundRect">
            <a:avLst>
              <a:gd name="adj" fmla="val 5760"/>
            </a:avLst>
          </a:prstGeom>
          <a:solidFill>
            <a:srgbClr val="232320"/>
          </a:solidFill>
          <a:ln w="6350">
            <a:solidFill>
              <a:srgbClr val="6B5A1E"/>
            </a:solidFill>
            <a:prstDash val="solid"/>
          </a:ln>
        </p:spPr>
      </p:sp>
      <p:pic>
        <p:nvPicPr>
          <p:cNvPr id="26" name="Image 6" descr="/Users/jeanpiere/Developer/acity/assessment-atlantic/ac-maturity-ai/02_generacion_reportes/assets/awards/triden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3425" y="3937000"/>
            <a:ext cx="1016000" cy="10160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37150" y="50927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TRIDENTE LEGENDARIO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5137150" y="54102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(NEGOCIO)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7772400" y="3683000"/>
            <a:ext cx="2622550" cy="2222500"/>
          </a:xfrm>
          <a:prstGeom prst="roundRect">
            <a:avLst>
              <a:gd name="adj" fmla="val 5760"/>
            </a:avLst>
          </a:prstGeom>
          <a:solidFill>
            <a:srgbClr val="232320"/>
          </a:solidFill>
          <a:ln w="6350">
            <a:solidFill>
              <a:srgbClr val="6B5A1E"/>
            </a:solidFill>
            <a:prstDash val="solid"/>
          </a:ln>
        </p:spPr>
      </p:sp>
      <p:pic>
        <p:nvPicPr>
          <p:cNvPr id="30" name="Image 7" descr="/Users/jeanpiere/Developer/acity/assessment-atlantic/ac-maturity-ai/02_generacion_reportes/assets/awards/mv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5675" y="3937000"/>
            <a:ext cx="1016000" cy="10160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899400" y="50927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SUPREMO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7899400" y="5410200"/>
            <a:ext cx="2368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DEFINIR</a:t>
            </a:r>
            <a:endParaRPr lang="en-US" sz="950" dirty="0"/>
          </a:p>
        </p:txBody>
      </p:sp>
      <p:sp>
        <p:nvSpPr>
          <p:cNvPr id="33" name="Text 23"/>
          <p:cNvSpPr/>
          <p:nvPr/>
        </p:nvSpPr>
        <p:spPr>
          <a:xfrm>
            <a:off x="11430000" y="6565900"/>
            <a:ext cx="698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Atlantic City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Madurez Consolidado: Apificación (Betagame), Ganbatte (Canal), Hydra (Betagame), Ragnarok (CAF), Stark (Negocio) y Voyager (Promociones) Q3-2026</dc:title>
  <dc:subject>Reporte de madurez agil</dc:subject>
  <dc:creator>Jean Piere Cerdan / Atlantic City</dc:creator>
  <cp:lastModifiedBy>Jean Piere Cerdan / Atlantic City</cp:lastModifiedBy>
  <cp:revision>1</cp:revision>
  <dcterms:created xsi:type="dcterms:W3CDTF">2026-10-16T15:05:34Z</dcterms:created>
  <dcterms:modified xsi:type="dcterms:W3CDTF">2026-10-16T15:05:34Z</dcterms:modified>
</cp:coreProperties>
</file>